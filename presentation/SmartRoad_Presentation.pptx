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SMARTROAD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Traffic Accident Risk, Severity &amp; Hotspot Analytics</a:t>
            </a:r>
            <a:br/>
            <a:br/>
            <a:r>
              <a:t>Computational Analytics - Assignment 2</a:t>
            </a:r>
            <a:br/>
            <a:r>
              <a:t>BCA Semester 7 | Academic Year 2026-2027</a:t>
            </a:r>
            <a:br/>
            <a:br/>
            <a:r>
              <a:t>Group members: ______________________________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Problem, Goal &amp;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Problem: recorded traffic collisions contain temporal, road, environmental and geographic signals that are difficult to summarize manually.</a:t>
            </a:r>
            <a:br/>
            <a:br/>
            <a:r>
              <a:t>Goal: build an end-to-end analytics solution that explores collision patterns, identifies geographic hotspots, and classifies whether a reported collision is high severity.</a:t>
            </a:r>
            <a:br/>
            <a:br/>
            <a:r>
              <a:t>Dataset: official UK Department for Transport STATS19 collision CSV for 2025. Records processed: 101,525.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Analytics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Acquire -&gt; Clean -&gt; EDA -&gt; Feature Engineering -&gt; Train/Test -&gt; 5-Fold Cross-Validation -&gt; Evaluation -&gt; Hotspot Clustering -&gt; Dashboard</a:t>
            </a:r>
            <a:br/>
            <a:br/>
            <a:r>
              <a:t>Python stack: Pandas, NumPy, Matplotlib, Seaborn, Scikit-learn, Streamlit, Plotly.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Preprocessing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Cleaning: duplicate removal, date/time parsing, numeric validation, median/mode imputation and one-hot encoding.</a:t>
            </a:r>
            <a:br/>
            <a:br/>
            <a:r>
              <a:t>Engineered features: hour, month, weekend, night, rush_hour, multi_vehicle and modeled road/environment indicators.</a:t>
            </a:r>
            <a:br/>
            <a:br/>
            <a:r>
              <a:t>Target: high_severity = Fatal or Serious; 0 = Slight. Target prevalence in the 2025 data: 26.24%.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Visual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420624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232323"/>
                </a:solidFill>
                <a:latin typeface="Aptos"/>
              </a:defRPr>
            </a:pPr>
            <a:r>
              <a:t>Real 2025 visual analytics</a:t>
            </a:r>
          </a:p>
          <a:p>
            <a:pPr>
              <a:defRPr sz="2000" b="0">
                <a:solidFill>
                  <a:srgbClr val="232323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32323"/>
                </a:solidFill>
                <a:latin typeface="Aptos"/>
              </a:defRPr>
            </a:pPr>
            <a:r>
              <a:t>• Accident counts by hour reveal strong concentration during daytime and evening periods.</a:t>
            </a:r>
          </a:p>
          <a:p>
            <a:pPr>
              <a:defRPr sz="2000" b="0">
                <a:solidFill>
                  <a:srgbClr val="232323"/>
                </a:solidFill>
                <a:latin typeface="Aptos"/>
              </a:defRPr>
            </a:pPr>
            <a:r>
              <a:t>• Severity distribution shows Slight collisions as the largest class, followed by Serious and Fatal.</a:t>
            </a:r>
          </a:p>
          <a:p>
            <a:pPr>
              <a:defRPr sz="2000" b="0">
                <a:solidFill>
                  <a:srgbClr val="232323"/>
                </a:solidFill>
                <a:latin typeface="Aptos"/>
              </a:defRPr>
            </a:pPr>
            <a:r>
              <a:t>• The weekday-hour heatmap highlights recurring temporal concentration, especially during weekday peak periods.</a:t>
            </a:r>
          </a:p>
          <a:p>
            <a:pPr>
              <a:defRPr sz="2000" b="0">
                <a:solidFill>
                  <a:srgbClr val="232323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32323"/>
                </a:solidFill>
                <a:latin typeface="Aptos"/>
              </a:defRPr>
            </a:pPr>
            <a:r>
              <a:t>Eight real 2025 PNG outputs were generated: six EDA charts plus the confusion matrix and model-comparison chart.</a:t>
            </a:r>
          </a:p>
        </p:txBody>
      </p:sp>
      <p:pic>
        <p:nvPicPr>
          <p:cNvPr id="4" name="Picture 3" descr="01_accidents_by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234440"/>
            <a:ext cx="2880360" cy="2057400"/>
          </a:xfrm>
          <a:prstGeom prst="rect">
            <a:avLst/>
          </a:prstGeom>
        </p:spPr>
      </p:pic>
      <p:pic>
        <p:nvPicPr>
          <p:cNvPr id="5" name="Picture 4" descr="02_severit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234440"/>
            <a:ext cx="2880360" cy="2057400"/>
          </a:xfrm>
          <a:prstGeom prst="rect">
            <a:avLst/>
          </a:prstGeom>
        </p:spPr>
      </p:pic>
      <p:pic>
        <p:nvPicPr>
          <p:cNvPr id="6" name="Picture 5" descr="04_weekday_hour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520440"/>
            <a:ext cx="598932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74920" y="6309360"/>
            <a:ext cx="59893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232323"/>
                </a:solidFill>
                <a:latin typeface="Aptos"/>
              </a:defRPr>
            </a:pPr>
            <a:r>
              <a:t>Representative real 2025 EDA outputs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Machine Learning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Model                         Accuracy   Precision   Recall    F1       CV F1</a:t>
            </a:r>
            <a:br/>
            <a:r>
              <a:t>Random Forest                65.01%     33.85%      34.92%   34.38%   34.59%</a:t>
            </a:r>
            <a:br/>
            <a:r>
              <a:t>Logistic Regression           57.33%     32.60%      58.66%   41.91%   41.85%</a:t>
            </a:r>
            <a:br/>
            <a:r>
              <a:t>Gradient Boosting             60.58%     34.12%      53.95%   41.80%   42.09%</a:t>
            </a:r>
            <a:br/>
            <a:br/>
            <a:r>
              <a:t>Selected model: Gradient Boosting, based on the highest mean 5-fold cross-validated F1.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Final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4069080" cy="5212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100" b="0">
                <a:solidFill>
                  <a:srgbClr val="232323"/>
                </a:solidFill>
                <a:latin typeface="Aptos"/>
              </a:defRPr>
            </a:pPr>
            <a:r>
              <a:t>Selected model: Gradient Boosting</a:t>
            </a:r>
          </a:p>
          <a:p>
            <a:pPr>
              <a:defRPr sz="2100" b="0">
                <a:solidFill>
                  <a:srgbClr val="232323"/>
                </a:solidFill>
                <a:latin typeface="Aptos"/>
              </a:defRPr>
            </a:pPr>
          </a:p>
          <a:p>
            <a:pPr>
              <a:defRPr sz="2100" b="0">
                <a:solidFill>
                  <a:srgbClr val="232323"/>
                </a:solidFill>
                <a:latin typeface="Aptos"/>
              </a:defRPr>
            </a:pPr>
            <a:r>
              <a:t>Accuracy: 60.58%</a:t>
            </a:r>
          </a:p>
          <a:p>
            <a:pPr>
              <a:defRPr sz="2100" b="0">
                <a:solidFill>
                  <a:srgbClr val="232323"/>
                </a:solidFill>
                <a:latin typeface="Aptos"/>
              </a:defRPr>
            </a:pPr>
            <a:r>
              <a:t>Precision: 34.12%</a:t>
            </a:r>
          </a:p>
          <a:p>
            <a:pPr>
              <a:defRPr sz="2100" b="0">
                <a:solidFill>
                  <a:srgbClr val="232323"/>
                </a:solidFill>
                <a:latin typeface="Aptos"/>
              </a:defRPr>
            </a:pPr>
            <a:r>
              <a:t>Recall: 53.95%</a:t>
            </a:r>
          </a:p>
          <a:p>
            <a:pPr>
              <a:defRPr sz="2100" b="0">
                <a:solidFill>
                  <a:srgbClr val="232323"/>
                </a:solidFill>
                <a:latin typeface="Aptos"/>
              </a:defRPr>
            </a:pPr>
            <a:r>
              <a:t>F1-score: 41.80%</a:t>
            </a:r>
          </a:p>
          <a:p>
            <a:pPr>
              <a:defRPr sz="2100" b="0">
                <a:solidFill>
                  <a:srgbClr val="232323"/>
                </a:solidFill>
                <a:latin typeface="Aptos"/>
              </a:defRPr>
            </a:pPr>
            <a:r>
              <a:t>5-fold CV F1: 42.09% ± 0.24%</a:t>
            </a:r>
          </a:p>
          <a:p>
            <a:pPr>
              <a:defRPr sz="2100" b="0">
                <a:solidFill>
                  <a:srgbClr val="232323"/>
                </a:solidFill>
                <a:latin typeface="Aptos"/>
              </a:defRPr>
            </a:pPr>
          </a:p>
          <a:p>
            <a:pPr>
              <a:defRPr sz="2100" b="0">
                <a:solidFill>
                  <a:srgbClr val="232323"/>
                </a:solidFill>
                <a:latin typeface="Aptos"/>
              </a:defRPr>
            </a:pPr>
            <a:r>
              <a:t>The confusion matrix is included to show true/false classifications for the high-severity class. F1 is emphasized because the positive class represents 26.24% of the 2025 records.</a:t>
            </a:r>
          </a:p>
        </p:txBody>
      </p:sp>
      <p:pic>
        <p:nvPicPr>
          <p:cNvPr id="4" name="Picture 3" descr="07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5715000" cy="46759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20640" y="6172200"/>
            <a:ext cx="571500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232323"/>
                </a:solidFill>
                <a:latin typeface="Aptos"/>
              </a:defRPr>
            </a:pPr>
            <a:r>
              <a:t>Figure: Gradient Boosting confusion matrix - official 2025 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Feature Importance &amp; Hotspots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4160520" cy="5349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232323"/>
                </a:solidFill>
                <a:latin typeface="Aptos"/>
              </a:defRPr>
            </a:pPr>
            <a:r>
              <a:t>Top features in the final 2025 run</a:t>
            </a:r>
          </a:p>
          <a:p>
            <a:pPr>
              <a:defRPr sz="2000" b="0">
                <a:solidFill>
                  <a:srgbClr val="232323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32323"/>
                </a:solidFill>
                <a:latin typeface="Aptos"/>
              </a:defRPr>
            </a:pPr>
            <a:r>
              <a:t>1. number_of_vehicles - 0.04165</a:t>
            </a:r>
          </a:p>
          <a:p>
            <a:pPr>
              <a:defRPr sz="2000" b="0">
                <a:solidFill>
                  <a:srgbClr val="232323"/>
                </a:solidFill>
                <a:latin typeface="Aptos"/>
              </a:defRPr>
            </a:pPr>
            <a:r>
              <a:t>2. urban_or_rural_area - 0.01993</a:t>
            </a:r>
          </a:p>
          <a:p>
            <a:pPr>
              <a:defRPr sz="2000" b="0">
                <a:solidFill>
                  <a:srgbClr val="232323"/>
                </a:solidFill>
                <a:latin typeface="Aptos"/>
              </a:defRPr>
            </a:pPr>
            <a:r>
              <a:t>3. speed_limit - 0.01917</a:t>
            </a:r>
          </a:p>
          <a:p>
            <a:pPr>
              <a:defRPr sz="2000" b="0">
                <a:solidFill>
                  <a:srgbClr val="232323"/>
                </a:solidFill>
                <a:latin typeface="Aptos"/>
              </a:defRPr>
            </a:pPr>
            <a:r>
              <a:t>4. road_type - 0.01271</a:t>
            </a:r>
          </a:p>
          <a:p>
            <a:pPr>
              <a:defRPr sz="2000" b="0">
                <a:solidFill>
                  <a:srgbClr val="232323"/>
                </a:solidFill>
                <a:latin typeface="Aptos"/>
              </a:defRPr>
            </a:pPr>
            <a:r>
              <a:t>5. hour - 0.00727</a:t>
            </a:r>
          </a:p>
          <a:p>
            <a:pPr>
              <a:defRPr sz="2000" b="0">
                <a:solidFill>
                  <a:srgbClr val="232323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32323"/>
                </a:solidFill>
                <a:latin typeface="Aptos"/>
              </a:defRPr>
            </a:pPr>
            <a:r>
              <a:t>K-Means groups valid latitude/longitude records into exploratory geographic clusters and ranks them using collision volume and high-severity rate.</a:t>
            </a:r>
          </a:p>
        </p:txBody>
      </p:sp>
      <p:pic>
        <p:nvPicPr>
          <p:cNvPr id="4" name="Picture 3" descr="08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6126480" cy="340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83480" y="6217920"/>
            <a:ext cx="6126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232323"/>
                </a:solidFill>
                <a:latin typeface="Aptos"/>
              </a:defRPr>
            </a:pPr>
            <a:r>
              <a:t>Figure: Three-model comparison - official 2025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Streamlit dashboard functions:</a:t>
            </a:r>
            <a:br/>
            <a:r>
              <a:t>- KPI cards for collision count, high-severity count/rate and average vehicles</a:t>
            </a:r>
            <a:br/>
            <a:r>
              <a:t>- Severity and hourly interactive charts</a:t>
            </a:r>
            <a:br/>
            <a:r>
              <a:t>- Geographic visualization</a:t>
            </a:r>
            <a:br/>
            <a:r>
              <a:t>- Adjustable K-Means hotspot clustering</a:t>
            </a:r>
            <a:br/>
            <a:r>
              <a:t>- Model comparison and confusion matrix</a:t>
            </a:r>
            <a:br/>
            <a:r>
              <a:t>- High-severity prediction form</a:t>
            </a:r>
            <a:br/>
            <a:r>
              <a:t>- Data-quality summary</a:t>
            </a:r>
            <a:br/>
            <a:br/>
            <a:r>
              <a:t>The dashboard uses data/road_collisions_2025.csv when present and otherwise falls back to the demo dataset for local software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Conclusion, Deliverables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Conclusion: SmartRoad implements the requested analytics lifecycle from acquisition through predictive modeling, evaluation, clustering and dashboard delivery.</a:t>
            </a:r>
            <a:br/>
            <a:br/>
            <a:r>
              <a:t>Deliverables: source code, dataset, charts, report, presentation and requirements file.</a:t>
            </a:r>
            <a:br/>
            <a:br/>
            <a:r>
              <a:t>Future scope: live traffic/weather APIs, exposure-adjusted risk, explainable AI, probability calibration and cloud deployment.</a:t>
            </a:r>
            <a:br/>
            <a:br/>
            <a:r>
              <a:t>Presentation length: designed for the professor requirement of 8-10 slides and a maximum 10 minutes.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